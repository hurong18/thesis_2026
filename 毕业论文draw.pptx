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707"/>
  </p:normalViewPr>
  <p:slideViewPr>
    <p:cSldViewPr snapToGrid="0">
      <p:cViewPr varScale="1">
        <p:scale>
          <a:sx n="115" d="100"/>
          <a:sy n="115"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7424E2-87B6-B75E-F21D-E994D201800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0D10395-1172-E301-DE1F-1368FAC7D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2B279914-D978-DD8E-1C2F-27D4BD33A11D}"/>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E7C90DC8-9A6D-FC03-C47A-83DFEC94012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FF87E2B-D7A3-FFDF-C079-34DD526E716A}"/>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295783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A395F-CE3D-056D-67AA-EC9CE7A4DD3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AE9268E-2EB4-F5EE-0B90-5A15C2C36A1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06A1925-7DC4-7CA7-CC19-A200F6CEFE03}"/>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12BFAD26-9D05-4D39-C397-18E364318AD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7446489-92A7-FA85-5ED6-7345F1C6426A}"/>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271757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1D75E-118D-47D8-0D41-E8D7DCFE194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BE9EE23-0027-C6ED-AC8A-A5617B8536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E07A60BC-49F2-30B3-D07D-B1A61CFECAB4}"/>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5BD717A7-1C8A-9076-54A0-42E636CF5DC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A0CDD29-9B1C-B4DE-34BC-BC4F5C024119}"/>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3684259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43E087-CBBE-3B44-720C-2B208279C2D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468C4C1-4691-C4ED-6AF9-B273D7ADDC8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EEF2C88-C242-E4F7-6B4B-78D31D79794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4375697-2B1D-9DC3-49E4-4E604319C014}"/>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6" name="页脚占位符 5">
            <a:extLst>
              <a:ext uri="{FF2B5EF4-FFF2-40B4-BE49-F238E27FC236}">
                <a16:creationId xmlns:a16="http://schemas.microsoft.com/office/drawing/2014/main" id="{42493020-A875-2CB1-4794-79A02ACE3B2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FE516A0-42AA-1081-4C8F-D11C0248D7ED}"/>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780684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8ADCC4-00AD-245B-0508-7CFA9EDCA4B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5A8A0C7-F239-1B17-C067-196075D14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4B0ADAA2-BD0C-F788-1350-A3C3846BCDA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7C1BDC5-1F4C-EDF0-3C90-42C11F9FA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25F7B19-7E05-ED5E-7BA8-A845DA71CFC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33455A-0DF3-76B6-3771-0F34A52CC1F0}"/>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8" name="页脚占位符 7">
            <a:extLst>
              <a:ext uri="{FF2B5EF4-FFF2-40B4-BE49-F238E27FC236}">
                <a16:creationId xmlns:a16="http://schemas.microsoft.com/office/drawing/2014/main" id="{1C80B15B-D7A6-7E53-0EE0-F2B9C6EA6D9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B84C856-108D-37C6-AB68-66C44D2A4989}"/>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2543288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96CE5-F4BA-62F4-8993-5D6401BA5506}"/>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27BF66E-BCA4-976E-0CF0-C770FF6979AE}"/>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4" name="页脚占位符 3">
            <a:extLst>
              <a:ext uri="{FF2B5EF4-FFF2-40B4-BE49-F238E27FC236}">
                <a16:creationId xmlns:a16="http://schemas.microsoft.com/office/drawing/2014/main" id="{19D76581-FDCF-CE32-39AE-2974E7DF1C4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AC8FD34-43B1-DF6C-A8DD-139195DD7CCD}"/>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221588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E3D624-A0E3-31E9-ECE4-C779149AA5FB}"/>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3" name="页脚占位符 2">
            <a:extLst>
              <a:ext uri="{FF2B5EF4-FFF2-40B4-BE49-F238E27FC236}">
                <a16:creationId xmlns:a16="http://schemas.microsoft.com/office/drawing/2014/main" id="{FB6C4BAF-54FB-5123-7E55-B2D9965DD1F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28460B08-E4BF-6C64-BC6A-5BD522F2827D}"/>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1286770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31F79-56EF-49D1-B401-A688F9E3D88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0589C12-D743-CA66-D4C7-47ADA18D1B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7A365AC-F68A-F72A-103B-8E7109D981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9F9BC4D-1C03-35D9-0F8A-F605E619DB80}"/>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6" name="页脚占位符 5">
            <a:extLst>
              <a:ext uri="{FF2B5EF4-FFF2-40B4-BE49-F238E27FC236}">
                <a16:creationId xmlns:a16="http://schemas.microsoft.com/office/drawing/2014/main" id="{A68A1AC2-E2E1-0E6C-A37A-8BDA5A53B34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0C9D8B9-0136-A2E7-51A5-AF82B4B2A87E}"/>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3054833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DF050-CB43-3353-FB53-520BB08FADF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1A63C85-6C20-D9E8-3D94-50C9774409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BBDCDA-4D3F-E712-2473-76EE571A05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E9D06AD-4F53-5187-C8B2-2066F17FF269}"/>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6" name="页脚占位符 5">
            <a:extLst>
              <a:ext uri="{FF2B5EF4-FFF2-40B4-BE49-F238E27FC236}">
                <a16:creationId xmlns:a16="http://schemas.microsoft.com/office/drawing/2014/main" id="{EBFD6E29-ADF0-FD08-A35D-1D5061A5CE5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7D1162-D30A-EC98-BC5A-47EDFBE11177}"/>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2534392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14E60A-A877-97D1-C870-7179C1ADFB1B}"/>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EC99830-8828-8EA9-9C10-0395F432D4F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D81D3D7-D533-F7D4-0BFA-7DED819EEB64}"/>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5059FD9C-70AD-7E60-5375-8F37D61FEBA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7B072F-B1E1-D99A-4629-332FB43C15EF}"/>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3428147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E2021CB-BF12-1A0C-72F4-E1385AE1239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5324B9B-D81F-B09D-67AB-FC22A2F1AB7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8FE62F3-A987-1207-7576-42925AFADFF2}"/>
              </a:ext>
            </a:extLst>
          </p:cNvPr>
          <p:cNvSpPr>
            <a:spLocks noGrp="1"/>
          </p:cNvSpPr>
          <p:nvPr>
            <p:ph type="dt" sz="half" idx="10"/>
          </p:nvPr>
        </p:nvSpPr>
        <p:spPr/>
        <p:txBody>
          <a:body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6A453587-0A15-E477-BF87-39487A6435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37B4A8E-DDE3-4E9F-2FE6-AF4C8E9DFE5D}"/>
              </a:ext>
            </a:extLst>
          </p:cNvPr>
          <p:cNvSpPr>
            <a:spLocks noGrp="1"/>
          </p:cNvSpPr>
          <p:nvPr>
            <p:ph type="sldNum" sz="quarter" idx="12"/>
          </p:nvPr>
        </p:nvSpPr>
        <p:spPr/>
        <p:txBody>
          <a:body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744612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815889B-19DE-92DC-7017-01A232690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563BA9-0BE1-0AFD-D28E-85350B5A32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5D6B42C-1736-0FEB-632F-277499065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ADC0D0-B9B3-6A40-88E8-A1B75264887A}" type="datetimeFigureOut">
              <a:rPr kumimoji="1" lang="zh-CN" altLang="en-US" smtClean="0"/>
              <a:t>2026/3/2</a:t>
            </a:fld>
            <a:endParaRPr kumimoji="1" lang="zh-CN" altLang="en-US"/>
          </a:p>
        </p:txBody>
      </p:sp>
      <p:sp>
        <p:nvSpPr>
          <p:cNvPr id="5" name="页脚占位符 4">
            <a:extLst>
              <a:ext uri="{FF2B5EF4-FFF2-40B4-BE49-F238E27FC236}">
                <a16:creationId xmlns:a16="http://schemas.microsoft.com/office/drawing/2014/main" id="{6E28F386-21C3-3D68-50C4-071EA5A532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CE77D57-977D-C5B3-9DF9-7774897C4C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DC5DCA-3CDB-EE49-8570-3C3836911436}" type="slidenum">
              <a:rPr kumimoji="1" lang="zh-CN" altLang="en-US" smtClean="0"/>
              <a:t>‹#›</a:t>
            </a:fld>
            <a:endParaRPr kumimoji="1" lang="zh-CN" altLang="en-US"/>
          </a:p>
        </p:txBody>
      </p:sp>
    </p:spTree>
    <p:extLst>
      <p:ext uri="{BB962C8B-B14F-4D97-AF65-F5344CB8AC3E}">
        <p14:creationId xmlns:p14="http://schemas.microsoft.com/office/powerpoint/2010/main" val="860302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972F806-6100-F8F3-3A80-7818806F13FE}"/>
              </a:ext>
            </a:extLst>
          </p:cNvPr>
          <p:cNvSpPr/>
          <p:nvPr/>
        </p:nvSpPr>
        <p:spPr>
          <a:xfrm>
            <a:off x="2174488" y="111512"/>
            <a:ext cx="7263158" cy="568713"/>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ln w="0"/>
              <a:solidFill>
                <a:schemeClr val="tx1"/>
              </a:solidFill>
              <a:effectLst>
                <a:outerShdw blurRad="38100" dist="19050" dir="2700000" algn="tl" rotWithShape="0">
                  <a:schemeClr val="dk1">
                    <a:alpha val="40000"/>
                  </a:schemeClr>
                </a:outerShdw>
              </a:effectLst>
            </a:endParaRPr>
          </a:p>
        </p:txBody>
      </p:sp>
      <p:sp>
        <p:nvSpPr>
          <p:cNvPr id="5" name="文本框 4">
            <a:extLst>
              <a:ext uri="{FF2B5EF4-FFF2-40B4-BE49-F238E27FC236}">
                <a16:creationId xmlns:a16="http://schemas.microsoft.com/office/drawing/2014/main" id="{9BFE693D-2377-BDC7-91E6-D8214984D3CA}"/>
              </a:ext>
            </a:extLst>
          </p:cNvPr>
          <p:cNvSpPr txBox="1"/>
          <p:nvPr/>
        </p:nvSpPr>
        <p:spPr>
          <a:xfrm>
            <a:off x="3542368" y="207829"/>
            <a:ext cx="4839630" cy="338554"/>
          </a:xfrm>
          <a:prstGeom prst="rect">
            <a:avLst/>
          </a:prstGeom>
          <a:noFill/>
        </p:spPr>
        <p:txBody>
          <a:bodyPr wrap="square" rtlCol="0">
            <a:spAutoFit/>
          </a:bodyPr>
          <a:lstStyle/>
          <a:p>
            <a:r>
              <a:rPr kumimoji="1" lang="zh-CN" altLang="en-US" sz="1600" dirty="0"/>
              <a:t>分布式信源编码辅助的编码计算结果传输方法研究</a:t>
            </a:r>
          </a:p>
        </p:txBody>
      </p:sp>
      <p:sp>
        <p:nvSpPr>
          <p:cNvPr id="6" name="矩形 5">
            <a:extLst>
              <a:ext uri="{FF2B5EF4-FFF2-40B4-BE49-F238E27FC236}">
                <a16:creationId xmlns:a16="http://schemas.microsoft.com/office/drawing/2014/main" id="{1D4CA199-F4E0-9137-2FE5-B98C65F6F002}"/>
              </a:ext>
            </a:extLst>
          </p:cNvPr>
          <p:cNvSpPr/>
          <p:nvPr/>
        </p:nvSpPr>
        <p:spPr>
          <a:xfrm>
            <a:off x="2174486" y="952864"/>
            <a:ext cx="3341647" cy="36933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E9870C36-BBED-B06A-2FC7-90770FE61814}"/>
              </a:ext>
            </a:extLst>
          </p:cNvPr>
          <p:cNvSpPr/>
          <p:nvPr/>
        </p:nvSpPr>
        <p:spPr>
          <a:xfrm>
            <a:off x="6095999" y="956760"/>
            <a:ext cx="3341648" cy="36933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1CFC36BD-DAC9-04B1-9812-69ACABB34AD2}"/>
              </a:ext>
            </a:extLst>
          </p:cNvPr>
          <p:cNvSpPr txBox="1"/>
          <p:nvPr/>
        </p:nvSpPr>
        <p:spPr>
          <a:xfrm>
            <a:off x="2996889" y="967808"/>
            <a:ext cx="2274849" cy="307777"/>
          </a:xfrm>
          <a:prstGeom prst="rect">
            <a:avLst/>
          </a:prstGeom>
          <a:noFill/>
        </p:spPr>
        <p:txBody>
          <a:bodyPr wrap="square" rtlCol="0">
            <a:spAutoFit/>
          </a:bodyPr>
          <a:lstStyle/>
          <a:p>
            <a:r>
              <a:rPr kumimoji="1" lang="zh-CN" altLang="en-US" sz="1400" dirty="0"/>
              <a:t>第一章</a:t>
            </a:r>
            <a:r>
              <a:rPr kumimoji="1" lang="en-US" altLang="zh-CN" sz="1400" dirty="0"/>
              <a:t>	</a:t>
            </a:r>
            <a:r>
              <a:rPr kumimoji="1" lang="zh-CN" altLang="en-US" sz="1400" dirty="0"/>
              <a:t>绪论</a:t>
            </a:r>
          </a:p>
        </p:txBody>
      </p:sp>
      <p:sp>
        <p:nvSpPr>
          <p:cNvPr id="9" name="文本框 8">
            <a:extLst>
              <a:ext uri="{FF2B5EF4-FFF2-40B4-BE49-F238E27FC236}">
                <a16:creationId xmlns:a16="http://schemas.microsoft.com/office/drawing/2014/main" id="{682A481C-4570-7EA2-87FA-2048C5469A84}"/>
              </a:ext>
            </a:extLst>
          </p:cNvPr>
          <p:cNvSpPr txBox="1"/>
          <p:nvPr/>
        </p:nvSpPr>
        <p:spPr>
          <a:xfrm>
            <a:off x="6338536" y="992836"/>
            <a:ext cx="3341649" cy="307777"/>
          </a:xfrm>
          <a:prstGeom prst="rect">
            <a:avLst/>
          </a:prstGeom>
          <a:noFill/>
        </p:spPr>
        <p:txBody>
          <a:bodyPr wrap="square" rtlCol="0">
            <a:spAutoFit/>
          </a:bodyPr>
          <a:lstStyle/>
          <a:p>
            <a:r>
              <a:rPr kumimoji="1" lang="zh-CN" altLang="en-US" sz="1400" dirty="0"/>
              <a:t>第二章</a:t>
            </a:r>
            <a:r>
              <a:rPr kumimoji="1" lang="en-US" altLang="zh-CN" sz="1400" dirty="0"/>
              <a:t>	</a:t>
            </a:r>
            <a:r>
              <a:rPr kumimoji="1" lang="zh-CN" altLang="en-US" sz="1400" dirty="0"/>
              <a:t>理论基础与相关技术</a:t>
            </a:r>
          </a:p>
        </p:txBody>
      </p:sp>
      <p:sp>
        <p:nvSpPr>
          <p:cNvPr id="10" name="下箭头 9">
            <a:extLst>
              <a:ext uri="{FF2B5EF4-FFF2-40B4-BE49-F238E27FC236}">
                <a16:creationId xmlns:a16="http://schemas.microsoft.com/office/drawing/2014/main" id="{337BCAEE-2B43-3C2C-8031-DAD7B233AA76}"/>
              </a:ext>
            </a:extLst>
          </p:cNvPr>
          <p:cNvSpPr/>
          <p:nvPr/>
        </p:nvSpPr>
        <p:spPr>
          <a:xfrm>
            <a:off x="3845309" y="680224"/>
            <a:ext cx="157978" cy="278109"/>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1" name="下箭头 10">
            <a:extLst>
              <a:ext uri="{FF2B5EF4-FFF2-40B4-BE49-F238E27FC236}">
                <a16:creationId xmlns:a16="http://schemas.microsoft.com/office/drawing/2014/main" id="{24FF7630-3B0C-4C99-31CF-003E62A7CD09}"/>
              </a:ext>
            </a:extLst>
          </p:cNvPr>
          <p:cNvSpPr/>
          <p:nvPr/>
        </p:nvSpPr>
        <p:spPr>
          <a:xfrm>
            <a:off x="7186954" y="680224"/>
            <a:ext cx="157978" cy="278109"/>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750E5A2C-05A1-E47A-54FC-82A8E932F9AD}"/>
              </a:ext>
            </a:extLst>
          </p:cNvPr>
          <p:cNvSpPr/>
          <p:nvPr/>
        </p:nvSpPr>
        <p:spPr>
          <a:xfrm>
            <a:off x="2174485" y="1539587"/>
            <a:ext cx="7263161" cy="108396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19CBF791-1226-1B7F-E326-9B3091A4083C}"/>
              </a:ext>
            </a:extLst>
          </p:cNvPr>
          <p:cNvSpPr/>
          <p:nvPr/>
        </p:nvSpPr>
        <p:spPr>
          <a:xfrm>
            <a:off x="1009883" y="1561841"/>
            <a:ext cx="858644" cy="108061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E5086C02-7BEE-B6AA-68CE-8B36814EADA5}"/>
              </a:ext>
            </a:extLst>
          </p:cNvPr>
          <p:cNvSpPr txBox="1"/>
          <p:nvPr/>
        </p:nvSpPr>
        <p:spPr>
          <a:xfrm>
            <a:off x="1115127" y="1791758"/>
            <a:ext cx="858644" cy="646331"/>
          </a:xfrm>
          <a:prstGeom prst="rect">
            <a:avLst/>
          </a:prstGeom>
          <a:noFill/>
        </p:spPr>
        <p:txBody>
          <a:bodyPr wrap="square" rtlCol="0">
            <a:spAutoFit/>
          </a:bodyPr>
          <a:lstStyle/>
          <a:p>
            <a:r>
              <a:rPr kumimoji="1" lang="zh-CN" altLang="en-US" dirty="0"/>
              <a:t>面临挑战</a:t>
            </a:r>
          </a:p>
        </p:txBody>
      </p:sp>
      <p:sp>
        <p:nvSpPr>
          <p:cNvPr id="15" name="矩形 14">
            <a:extLst>
              <a:ext uri="{FF2B5EF4-FFF2-40B4-BE49-F238E27FC236}">
                <a16:creationId xmlns:a16="http://schemas.microsoft.com/office/drawing/2014/main" id="{0ACC151C-7AD9-478C-1C86-C6D12554CAF6}"/>
              </a:ext>
            </a:extLst>
          </p:cNvPr>
          <p:cNvSpPr/>
          <p:nvPr/>
        </p:nvSpPr>
        <p:spPr>
          <a:xfrm>
            <a:off x="1020337" y="2880057"/>
            <a:ext cx="858644" cy="320025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6" name="文本框 15">
            <a:extLst>
              <a:ext uri="{FF2B5EF4-FFF2-40B4-BE49-F238E27FC236}">
                <a16:creationId xmlns:a16="http://schemas.microsoft.com/office/drawing/2014/main" id="{5BD950AE-AEB9-8749-49DB-F187ACF27066}"/>
              </a:ext>
            </a:extLst>
          </p:cNvPr>
          <p:cNvSpPr txBox="1"/>
          <p:nvPr/>
        </p:nvSpPr>
        <p:spPr>
          <a:xfrm>
            <a:off x="1214787" y="3673871"/>
            <a:ext cx="501804" cy="1200329"/>
          </a:xfrm>
          <a:prstGeom prst="rect">
            <a:avLst/>
          </a:prstGeom>
          <a:noFill/>
        </p:spPr>
        <p:txBody>
          <a:bodyPr wrap="square" rtlCol="0">
            <a:spAutoFit/>
          </a:bodyPr>
          <a:lstStyle/>
          <a:p>
            <a:r>
              <a:rPr kumimoji="1" lang="zh-CN" altLang="en-US" dirty="0"/>
              <a:t>研究内容</a:t>
            </a:r>
          </a:p>
        </p:txBody>
      </p:sp>
      <p:sp>
        <p:nvSpPr>
          <p:cNvPr id="17" name="矩形 16">
            <a:extLst>
              <a:ext uri="{FF2B5EF4-FFF2-40B4-BE49-F238E27FC236}">
                <a16:creationId xmlns:a16="http://schemas.microsoft.com/office/drawing/2014/main" id="{F4918191-AC98-6A35-C245-77E14379FD7D}"/>
              </a:ext>
            </a:extLst>
          </p:cNvPr>
          <p:cNvSpPr/>
          <p:nvPr/>
        </p:nvSpPr>
        <p:spPr>
          <a:xfrm>
            <a:off x="2181917" y="2880057"/>
            <a:ext cx="7263161" cy="320850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8" name="圆角矩形 17">
            <a:extLst>
              <a:ext uri="{FF2B5EF4-FFF2-40B4-BE49-F238E27FC236}">
                <a16:creationId xmlns:a16="http://schemas.microsoft.com/office/drawing/2014/main" id="{FDAB5A5A-5D7D-E2D0-A3BF-73DECCF50F89}"/>
              </a:ext>
            </a:extLst>
          </p:cNvPr>
          <p:cNvSpPr/>
          <p:nvPr/>
        </p:nvSpPr>
        <p:spPr>
          <a:xfrm>
            <a:off x="2386361" y="1661532"/>
            <a:ext cx="3163232" cy="83795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9" name="圆角矩形 18">
            <a:extLst>
              <a:ext uri="{FF2B5EF4-FFF2-40B4-BE49-F238E27FC236}">
                <a16:creationId xmlns:a16="http://schemas.microsoft.com/office/drawing/2014/main" id="{6A49BD52-F5E0-A9E2-C53C-9B92FD33A423}"/>
              </a:ext>
            </a:extLst>
          </p:cNvPr>
          <p:cNvSpPr/>
          <p:nvPr/>
        </p:nvSpPr>
        <p:spPr>
          <a:xfrm>
            <a:off x="5962183" y="1671372"/>
            <a:ext cx="3378820" cy="80612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5CCEE64D-15DC-0E60-A3B2-9E30E53D16A9}"/>
              </a:ext>
            </a:extLst>
          </p:cNvPr>
          <p:cNvSpPr txBox="1"/>
          <p:nvPr/>
        </p:nvSpPr>
        <p:spPr>
          <a:xfrm>
            <a:off x="2563385" y="1689954"/>
            <a:ext cx="2721825" cy="738664"/>
          </a:xfrm>
          <a:prstGeom prst="rect">
            <a:avLst/>
          </a:prstGeom>
          <a:noFill/>
        </p:spPr>
        <p:txBody>
          <a:bodyPr wrap="square" rtlCol="0">
            <a:spAutoFit/>
          </a:bodyPr>
          <a:lstStyle/>
          <a:p>
            <a:r>
              <a:rPr kumimoji="1" lang="zh-CN" altLang="en-US" sz="1400" dirty="0"/>
              <a:t>编码计算下行传输过程受信道衰落影响导致通信延迟增大，从而影响整体计算时长</a:t>
            </a:r>
          </a:p>
        </p:txBody>
      </p:sp>
      <p:sp>
        <p:nvSpPr>
          <p:cNvPr id="23" name="文本框 22">
            <a:extLst>
              <a:ext uri="{FF2B5EF4-FFF2-40B4-BE49-F238E27FC236}">
                <a16:creationId xmlns:a16="http://schemas.microsoft.com/office/drawing/2014/main" id="{319AAF94-7A6F-A5EB-DC3E-466A0F3074C0}"/>
              </a:ext>
            </a:extLst>
          </p:cNvPr>
          <p:cNvSpPr txBox="1"/>
          <p:nvPr/>
        </p:nvSpPr>
        <p:spPr>
          <a:xfrm>
            <a:off x="6188920" y="1705103"/>
            <a:ext cx="3126059" cy="738664"/>
          </a:xfrm>
          <a:prstGeom prst="rect">
            <a:avLst/>
          </a:prstGeom>
          <a:noFill/>
        </p:spPr>
        <p:txBody>
          <a:bodyPr wrap="square" rtlCol="0">
            <a:spAutoFit/>
          </a:bodyPr>
          <a:lstStyle/>
          <a:p>
            <a:r>
              <a:rPr kumimoji="1" lang="zh-CN" altLang="en-US" sz="1400" dirty="0"/>
              <a:t>编码计算由于引入任务编码，计算子任务间存在相关性，现有机制未能充分利用相关性，并与</a:t>
            </a:r>
            <a:r>
              <a:rPr kumimoji="1" lang="en-US" altLang="zh-CN" sz="1400" dirty="0"/>
              <a:t>DSC</a:t>
            </a:r>
            <a:r>
              <a:rPr kumimoji="1" lang="zh-CN" altLang="en-US" sz="1400" dirty="0"/>
              <a:t>问题结合</a:t>
            </a:r>
          </a:p>
        </p:txBody>
      </p:sp>
      <p:grpSp>
        <p:nvGrpSpPr>
          <p:cNvPr id="37" name="组合 36">
            <a:extLst>
              <a:ext uri="{FF2B5EF4-FFF2-40B4-BE49-F238E27FC236}">
                <a16:creationId xmlns:a16="http://schemas.microsoft.com/office/drawing/2014/main" id="{2FCA9E7C-0B52-8C1F-756C-102B2594540E}"/>
              </a:ext>
            </a:extLst>
          </p:cNvPr>
          <p:cNvGrpSpPr/>
          <p:nvPr/>
        </p:nvGrpSpPr>
        <p:grpSpPr>
          <a:xfrm>
            <a:off x="2304595" y="2983640"/>
            <a:ext cx="3077265" cy="2190582"/>
            <a:chOff x="2452341" y="2972433"/>
            <a:chExt cx="3077265" cy="2190582"/>
          </a:xfrm>
        </p:grpSpPr>
        <p:sp>
          <p:nvSpPr>
            <p:cNvPr id="20" name="矩形 19">
              <a:extLst>
                <a:ext uri="{FF2B5EF4-FFF2-40B4-BE49-F238E27FC236}">
                  <a16:creationId xmlns:a16="http://schemas.microsoft.com/office/drawing/2014/main" id="{592F0B53-A95C-70C2-A5C6-06BACE7A55C0}"/>
                </a:ext>
              </a:extLst>
            </p:cNvPr>
            <p:cNvSpPr/>
            <p:nvPr/>
          </p:nvSpPr>
          <p:spPr>
            <a:xfrm>
              <a:off x="2452341" y="2972433"/>
              <a:ext cx="2963435" cy="2190582"/>
            </a:xfrm>
            <a:prstGeom prst="rect">
              <a:avLst/>
            </a:prstGeom>
            <a:ln>
              <a:solidFill>
                <a:schemeClr val="tx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8F97E032-AF2A-8D82-C37E-6E2F21227DD4}"/>
                </a:ext>
              </a:extLst>
            </p:cNvPr>
            <p:cNvSpPr txBox="1"/>
            <p:nvPr/>
          </p:nvSpPr>
          <p:spPr>
            <a:xfrm>
              <a:off x="2563385" y="3065650"/>
              <a:ext cx="2966221" cy="523220"/>
            </a:xfrm>
            <a:prstGeom prst="rect">
              <a:avLst/>
            </a:prstGeom>
            <a:noFill/>
          </p:spPr>
          <p:txBody>
            <a:bodyPr wrap="square" rtlCol="0">
              <a:spAutoFit/>
            </a:bodyPr>
            <a:lstStyle/>
            <a:p>
              <a:r>
                <a:rPr kumimoji="1" lang="zh-CN" altLang="en-US" sz="1400" dirty="0"/>
                <a:t>第三章  面向完整重构的</a:t>
              </a:r>
              <a:r>
                <a:rPr kumimoji="1" lang="en" altLang="zh-CN" sz="1400" dirty="0"/>
                <a:t>DSC</a:t>
              </a:r>
              <a:r>
                <a:rPr kumimoji="1" lang="zh-CN" altLang="en-US" sz="1400" dirty="0"/>
                <a:t>辅助编码计算结果传输方法研究</a:t>
              </a:r>
            </a:p>
          </p:txBody>
        </p:sp>
        <p:sp>
          <p:nvSpPr>
            <p:cNvPr id="27" name="圆角矩形 26">
              <a:extLst>
                <a:ext uri="{FF2B5EF4-FFF2-40B4-BE49-F238E27FC236}">
                  <a16:creationId xmlns:a16="http://schemas.microsoft.com/office/drawing/2014/main" id="{08D3D132-1C90-67B8-1E3A-31C816DC346D}"/>
                </a:ext>
              </a:extLst>
            </p:cNvPr>
            <p:cNvSpPr/>
            <p:nvPr/>
          </p:nvSpPr>
          <p:spPr>
            <a:xfrm>
              <a:off x="2555720" y="3659141"/>
              <a:ext cx="2729490" cy="1347757"/>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D295368C-3E6B-37C0-E99D-DA4FD562103E}"/>
                </a:ext>
              </a:extLst>
            </p:cNvPr>
            <p:cNvSpPr txBox="1"/>
            <p:nvPr/>
          </p:nvSpPr>
          <p:spPr>
            <a:xfrm>
              <a:off x="2617058" y="3855965"/>
              <a:ext cx="2701837" cy="954107"/>
            </a:xfrm>
            <a:prstGeom prst="rect">
              <a:avLst/>
            </a:prstGeom>
            <a:noFill/>
          </p:spPr>
          <p:txBody>
            <a:bodyPr wrap="square" rtlCol="0">
              <a:spAutoFit/>
            </a:bodyPr>
            <a:lstStyle/>
            <a:p>
              <a:r>
                <a:rPr kumimoji="1" lang="zh-CN" altLang="en-US" sz="1400" dirty="0"/>
                <a:t>针对独立恢复计算子任务结果场景，提出基于</a:t>
              </a:r>
              <a:r>
                <a:rPr kumimoji="1" lang="en-US" altLang="zh-CN" sz="1400" dirty="0"/>
                <a:t>DSC</a:t>
              </a:r>
              <a:r>
                <a:rPr kumimoji="1" lang="zh-CN" altLang="en-US" sz="1400" dirty="0"/>
                <a:t>的编码计算结果下行传输机制，并提出一种基于伴随式穿刺的实际编码方案</a:t>
              </a:r>
            </a:p>
          </p:txBody>
        </p:sp>
      </p:grpSp>
      <p:grpSp>
        <p:nvGrpSpPr>
          <p:cNvPr id="36" name="组合 35">
            <a:extLst>
              <a:ext uri="{FF2B5EF4-FFF2-40B4-BE49-F238E27FC236}">
                <a16:creationId xmlns:a16="http://schemas.microsoft.com/office/drawing/2014/main" id="{04A48E13-472E-6DBA-E16A-6EFDBC902CCA}"/>
              </a:ext>
            </a:extLst>
          </p:cNvPr>
          <p:cNvGrpSpPr/>
          <p:nvPr/>
        </p:nvGrpSpPr>
        <p:grpSpPr>
          <a:xfrm>
            <a:off x="6188920" y="2972434"/>
            <a:ext cx="3146045" cy="2190581"/>
            <a:chOff x="6076013" y="2972433"/>
            <a:chExt cx="3146045" cy="2190581"/>
          </a:xfrm>
        </p:grpSpPr>
        <p:sp>
          <p:nvSpPr>
            <p:cNvPr id="21" name="矩形 20">
              <a:extLst>
                <a:ext uri="{FF2B5EF4-FFF2-40B4-BE49-F238E27FC236}">
                  <a16:creationId xmlns:a16="http://schemas.microsoft.com/office/drawing/2014/main" id="{577B3CA9-3349-34D2-A8B2-F20068EA404E}"/>
                </a:ext>
              </a:extLst>
            </p:cNvPr>
            <p:cNvSpPr/>
            <p:nvPr/>
          </p:nvSpPr>
          <p:spPr>
            <a:xfrm>
              <a:off x="6076013" y="2972433"/>
              <a:ext cx="3146045" cy="2190581"/>
            </a:xfrm>
            <a:prstGeom prst="rect">
              <a:avLst/>
            </a:prstGeom>
            <a:ln>
              <a:solidFill>
                <a:schemeClr val="tx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FF8540A1-ED44-2B0D-0432-8086D1356629}"/>
                </a:ext>
              </a:extLst>
            </p:cNvPr>
            <p:cNvSpPr txBox="1"/>
            <p:nvPr/>
          </p:nvSpPr>
          <p:spPr>
            <a:xfrm>
              <a:off x="6109008" y="3065650"/>
              <a:ext cx="3113050" cy="523220"/>
            </a:xfrm>
            <a:prstGeom prst="rect">
              <a:avLst/>
            </a:prstGeom>
            <a:noFill/>
          </p:spPr>
          <p:txBody>
            <a:bodyPr wrap="square" rtlCol="0">
              <a:spAutoFit/>
            </a:bodyPr>
            <a:lstStyle/>
            <a:p>
              <a:r>
                <a:rPr kumimoji="1" lang="zh-CN" altLang="en-US" sz="1400" dirty="0"/>
                <a:t>第四章  面向线性聚合的</a:t>
              </a:r>
              <a:r>
                <a:rPr kumimoji="1" lang="en" altLang="zh-CN" sz="1400" dirty="0"/>
                <a:t>DSC</a:t>
              </a:r>
              <a:r>
                <a:rPr kumimoji="1" lang="zh-CN" altLang="en-US" sz="1400" dirty="0"/>
                <a:t>辅助编码计算结果传输方法研究</a:t>
              </a:r>
            </a:p>
          </p:txBody>
        </p:sp>
        <p:sp>
          <p:nvSpPr>
            <p:cNvPr id="28" name="圆角矩形 27">
              <a:extLst>
                <a:ext uri="{FF2B5EF4-FFF2-40B4-BE49-F238E27FC236}">
                  <a16:creationId xmlns:a16="http://schemas.microsoft.com/office/drawing/2014/main" id="{DFA2878E-B099-D6FC-B44B-B1C95811C5A8}"/>
                </a:ext>
              </a:extLst>
            </p:cNvPr>
            <p:cNvSpPr/>
            <p:nvPr/>
          </p:nvSpPr>
          <p:spPr>
            <a:xfrm>
              <a:off x="6192877" y="3670480"/>
              <a:ext cx="2834030" cy="1347757"/>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0" name="文本框 29">
              <a:extLst>
                <a:ext uri="{FF2B5EF4-FFF2-40B4-BE49-F238E27FC236}">
                  <a16:creationId xmlns:a16="http://schemas.microsoft.com/office/drawing/2014/main" id="{B7EC2620-25FE-4D2D-378D-9027AA994C75}"/>
                </a:ext>
              </a:extLst>
            </p:cNvPr>
            <p:cNvSpPr txBox="1"/>
            <p:nvPr/>
          </p:nvSpPr>
          <p:spPr>
            <a:xfrm>
              <a:off x="6241201" y="3668295"/>
              <a:ext cx="2701837" cy="1384995"/>
            </a:xfrm>
            <a:prstGeom prst="rect">
              <a:avLst/>
            </a:prstGeom>
            <a:noFill/>
          </p:spPr>
          <p:txBody>
            <a:bodyPr wrap="square" rtlCol="0">
              <a:spAutoFit/>
            </a:bodyPr>
            <a:lstStyle/>
            <a:p>
              <a:r>
                <a:rPr kumimoji="1" lang="zh-CN" altLang="en-US" sz="1400" dirty="0"/>
                <a:t>针对恢复子任务线性函数计算结果场景，提出基于嵌套线性编码和典型性译码联合的编码计算结果下行传输机制，并证明该方法比独立恢复进一步压缩了信源，从而提升传输效率</a:t>
              </a:r>
            </a:p>
          </p:txBody>
        </p:sp>
      </p:grpSp>
      <p:sp>
        <p:nvSpPr>
          <p:cNvPr id="31" name="下箭头 30">
            <a:extLst>
              <a:ext uri="{FF2B5EF4-FFF2-40B4-BE49-F238E27FC236}">
                <a16:creationId xmlns:a16="http://schemas.microsoft.com/office/drawing/2014/main" id="{472C5B10-DAF1-ACF0-2D9D-3B396B989CC1}"/>
              </a:ext>
            </a:extLst>
          </p:cNvPr>
          <p:cNvSpPr/>
          <p:nvPr/>
        </p:nvSpPr>
        <p:spPr>
          <a:xfrm>
            <a:off x="3867150" y="1328496"/>
            <a:ext cx="157978" cy="205806"/>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2" name="下箭头 31">
            <a:extLst>
              <a:ext uri="{FF2B5EF4-FFF2-40B4-BE49-F238E27FC236}">
                <a16:creationId xmlns:a16="http://schemas.microsoft.com/office/drawing/2014/main" id="{B4C29DC9-2279-888B-C996-08EFDCDFEB28}"/>
              </a:ext>
            </a:extLst>
          </p:cNvPr>
          <p:cNvSpPr/>
          <p:nvPr/>
        </p:nvSpPr>
        <p:spPr>
          <a:xfrm>
            <a:off x="7217618" y="1333781"/>
            <a:ext cx="157978" cy="205806"/>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3" name="下箭头 32">
            <a:extLst>
              <a:ext uri="{FF2B5EF4-FFF2-40B4-BE49-F238E27FC236}">
                <a16:creationId xmlns:a16="http://schemas.microsoft.com/office/drawing/2014/main" id="{CFD6C499-89EE-5ACF-E2F3-9C1376EEB77E}"/>
              </a:ext>
            </a:extLst>
          </p:cNvPr>
          <p:cNvSpPr/>
          <p:nvPr/>
        </p:nvSpPr>
        <p:spPr>
          <a:xfrm>
            <a:off x="5727076" y="2642452"/>
            <a:ext cx="157978" cy="205806"/>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4" name="右箭头 33">
            <a:extLst>
              <a:ext uri="{FF2B5EF4-FFF2-40B4-BE49-F238E27FC236}">
                <a16:creationId xmlns:a16="http://schemas.microsoft.com/office/drawing/2014/main" id="{140B7E63-5D25-4148-94D4-09C9DB399554}"/>
              </a:ext>
            </a:extLst>
          </p:cNvPr>
          <p:cNvSpPr/>
          <p:nvPr/>
        </p:nvSpPr>
        <p:spPr>
          <a:xfrm>
            <a:off x="5291710" y="4078931"/>
            <a:ext cx="897210" cy="168319"/>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5" name="文本框 34">
            <a:extLst>
              <a:ext uri="{FF2B5EF4-FFF2-40B4-BE49-F238E27FC236}">
                <a16:creationId xmlns:a16="http://schemas.microsoft.com/office/drawing/2014/main" id="{1E1568DD-A82C-E3A6-229B-FE7F9FAA70DC}"/>
              </a:ext>
            </a:extLst>
          </p:cNvPr>
          <p:cNvSpPr txBox="1"/>
          <p:nvPr/>
        </p:nvSpPr>
        <p:spPr>
          <a:xfrm>
            <a:off x="5336337" y="3252797"/>
            <a:ext cx="806821" cy="830997"/>
          </a:xfrm>
          <a:prstGeom prst="rect">
            <a:avLst/>
          </a:prstGeom>
          <a:noFill/>
        </p:spPr>
        <p:txBody>
          <a:bodyPr wrap="square" rtlCol="0">
            <a:spAutoFit/>
          </a:bodyPr>
          <a:lstStyle/>
          <a:p>
            <a:r>
              <a:rPr kumimoji="1" lang="zh-CN" altLang="en-US" sz="1200" dirty="0"/>
              <a:t>恢复独立信源</a:t>
            </a:r>
            <a:r>
              <a:rPr kumimoji="1" lang="en-US" altLang="zh-CN" sz="1200" dirty="0"/>
              <a:t>→</a:t>
            </a:r>
            <a:r>
              <a:rPr kumimoji="1" lang="zh-CN" altLang="en-US" sz="1200" dirty="0"/>
              <a:t>恢复信源线性函数</a:t>
            </a:r>
          </a:p>
        </p:txBody>
      </p:sp>
      <p:sp>
        <p:nvSpPr>
          <p:cNvPr id="39" name="矩形 38">
            <a:extLst>
              <a:ext uri="{FF2B5EF4-FFF2-40B4-BE49-F238E27FC236}">
                <a16:creationId xmlns:a16="http://schemas.microsoft.com/office/drawing/2014/main" id="{E7120628-BCB0-0AEE-6C62-D4D5A79E4412}"/>
              </a:ext>
            </a:extLst>
          </p:cNvPr>
          <p:cNvSpPr/>
          <p:nvPr/>
        </p:nvSpPr>
        <p:spPr>
          <a:xfrm>
            <a:off x="2996889" y="5574532"/>
            <a:ext cx="5645305" cy="386761"/>
          </a:xfrm>
          <a:prstGeom prst="rect">
            <a:avLst/>
          </a:prstGeom>
          <a:ln>
            <a:solidFill>
              <a:schemeClr val="tx1"/>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40" name="文本框 39">
            <a:extLst>
              <a:ext uri="{FF2B5EF4-FFF2-40B4-BE49-F238E27FC236}">
                <a16:creationId xmlns:a16="http://schemas.microsoft.com/office/drawing/2014/main" id="{E469F641-EF95-735F-6A17-04CED5C556CC}"/>
              </a:ext>
            </a:extLst>
          </p:cNvPr>
          <p:cNvSpPr txBox="1"/>
          <p:nvPr/>
        </p:nvSpPr>
        <p:spPr>
          <a:xfrm>
            <a:off x="2996889" y="5642309"/>
            <a:ext cx="5645305" cy="307777"/>
          </a:xfrm>
          <a:prstGeom prst="rect">
            <a:avLst/>
          </a:prstGeom>
          <a:noFill/>
        </p:spPr>
        <p:txBody>
          <a:bodyPr wrap="square" rtlCol="0">
            <a:spAutoFit/>
          </a:bodyPr>
          <a:lstStyle/>
          <a:p>
            <a:r>
              <a:rPr kumimoji="1" lang="zh-CN" altLang="en-US" sz="1400" dirty="0"/>
              <a:t>结合编码计算与</a:t>
            </a:r>
            <a:r>
              <a:rPr kumimoji="1" lang="en-US" altLang="zh-CN" sz="1400" dirty="0"/>
              <a:t>DSC</a:t>
            </a:r>
            <a:r>
              <a:rPr kumimoji="1" lang="zh-CN" altLang="en-US" sz="1400" dirty="0"/>
              <a:t>技术，利用</a:t>
            </a:r>
            <a:r>
              <a:rPr kumimoji="1" lang="en-US" altLang="zh-CN" sz="1400" dirty="0"/>
              <a:t>DSC</a:t>
            </a:r>
            <a:r>
              <a:rPr kumimoji="1" lang="zh-CN" altLang="en-US" sz="1400" dirty="0"/>
              <a:t>技术进行编码计算的传输负载压缩</a:t>
            </a:r>
          </a:p>
        </p:txBody>
      </p:sp>
      <p:sp>
        <p:nvSpPr>
          <p:cNvPr id="41" name="下箭头 40">
            <a:extLst>
              <a:ext uri="{FF2B5EF4-FFF2-40B4-BE49-F238E27FC236}">
                <a16:creationId xmlns:a16="http://schemas.microsoft.com/office/drawing/2014/main" id="{244776AE-AC0E-8089-459A-E669B995B2F5}"/>
              </a:ext>
            </a:extLst>
          </p:cNvPr>
          <p:cNvSpPr/>
          <p:nvPr/>
        </p:nvSpPr>
        <p:spPr>
          <a:xfrm>
            <a:off x="3953570" y="5204556"/>
            <a:ext cx="183531" cy="324948"/>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42" name="下箭头 41">
            <a:extLst>
              <a:ext uri="{FF2B5EF4-FFF2-40B4-BE49-F238E27FC236}">
                <a16:creationId xmlns:a16="http://schemas.microsoft.com/office/drawing/2014/main" id="{93898745-C80D-2FB5-69EB-E9421EB21E8A}"/>
              </a:ext>
            </a:extLst>
          </p:cNvPr>
          <p:cNvSpPr/>
          <p:nvPr/>
        </p:nvSpPr>
        <p:spPr>
          <a:xfrm>
            <a:off x="7318909" y="5182331"/>
            <a:ext cx="183531" cy="380994"/>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D89081E1-3BF5-FBED-AD3C-F1238E54CB08}"/>
              </a:ext>
            </a:extLst>
          </p:cNvPr>
          <p:cNvSpPr/>
          <p:nvPr/>
        </p:nvSpPr>
        <p:spPr>
          <a:xfrm>
            <a:off x="2174485" y="6405943"/>
            <a:ext cx="7270593" cy="36933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00050065-EBB5-8F6A-15B2-4D53745E16A3}"/>
              </a:ext>
            </a:extLst>
          </p:cNvPr>
          <p:cNvSpPr txBox="1"/>
          <p:nvPr/>
        </p:nvSpPr>
        <p:spPr>
          <a:xfrm>
            <a:off x="4660606" y="6435468"/>
            <a:ext cx="5005180" cy="307777"/>
          </a:xfrm>
          <a:prstGeom prst="rect">
            <a:avLst/>
          </a:prstGeom>
          <a:noFill/>
        </p:spPr>
        <p:txBody>
          <a:bodyPr wrap="square" rtlCol="0">
            <a:spAutoFit/>
          </a:bodyPr>
          <a:lstStyle/>
          <a:p>
            <a:r>
              <a:rPr kumimoji="1" lang="zh-CN" altLang="en-US" sz="1400" dirty="0"/>
              <a:t>第六章</a:t>
            </a:r>
            <a:r>
              <a:rPr kumimoji="1" lang="en-US" altLang="zh-CN" sz="1400" dirty="0"/>
              <a:t>	</a:t>
            </a:r>
            <a:r>
              <a:rPr kumimoji="1" lang="zh-CN" altLang="en-US" sz="1400" dirty="0"/>
              <a:t>总结与展望</a:t>
            </a:r>
          </a:p>
        </p:txBody>
      </p:sp>
      <p:sp>
        <p:nvSpPr>
          <p:cNvPr id="45" name="下箭头 44">
            <a:extLst>
              <a:ext uri="{FF2B5EF4-FFF2-40B4-BE49-F238E27FC236}">
                <a16:creationId xmlns:a16="http://schemas.microsoft.com/office/drawing/2014/main" id="{7EC38CC6-B210-7F1A-A529-DAE537F45385}"/>
              </a:ext>
            </a:extLst>
          </p:cNvPr>
          <p:cNvSpPr/>
          <p:nvPr/>
        </p:nvSpPr>
        <p:spPr>
          <a:xfrm>
            <a:off x="5609752" y="6080311"/>
            <a:ext cx="183531" cy="324948"/>
          </a:xfrm>
          <a:prstGeom prst="down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15106398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214</Words>
  <Application>Microsoft Macintosh PowerPoint</Application>
  <PresentationFormat>宽屏</PresentationFormat>
  <Paragraphs>14</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刘洋 张</dc:creator>
  <cp:lastModifiedBy>刘洋 张</cp:lastModifiedBy>
  <cp:revision>1</cp:revision>
  <dcterms:created xsi:type="dcterms:W3CDTF">2026-03-02T03:27:40Z</dcterms:created>
  <dcterms:modified xsi:type="dcterms:W3CDTF">2026-03-02T04:05:45Z</dcterms:modified>
</cp:coreProperties>
</file>